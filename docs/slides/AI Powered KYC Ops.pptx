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1" r:id="rId1"/>
  </p:sldMasterIdLst>
  <p:sldIdLst>
    <p:sldId id="260" r:id="rId2"/>
    <p:sldId id="261" r:id="rId3"/>
  </p:sldIdLst>
  <p:sldSz cx="9144000" cy="5143500" type="screen16x9"/>
  <p:notesSz cx="6858000" cy="9144000"/>
  <p:embeddedFontLst>
    <p:embeddedFont>
      <p:font typeface="Inter" panose="020B0502030000000004" pitchFamily="34" charset="0"/>
      <p:regular r:id="rId4"/>
      <p:bold r:id="rId5"/>
      <p:italic r:id="rId6"/>
      <p:boldItalic r:id="rId7"/>
    </p:embeddedFont>
    <p:embeddedFont>
      <p:font typeface="Inter Black" panose="02000503000000020004"/>
      <p:bold r:id="rId8"/>
      <p:italic r:id="rId9"/>
      <p:boldItalic r:id="rId10"/>
    </p:embeddedFont>
    <p:embeddedFont>
      <p:font typeface="Inter ExtraBold" panose="02000503000000020004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1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32" d="100"/>
          <a:sy n="132" d="100"/>
        </p:scale>
        <p:origin x="176" y="624"/>
      </p:cViewPr>
      <p:guideLst>
        <p:guide pos="61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3D">
  <p:cSld name="TITLE_1_1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622800" y="787300"/>
            <a:ext cx="5898300" cy="114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 ExtraBold"/>
              <a:buNone/>
              <a:defRPr sz="33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2800" y="1928800"/>
            <a:ext cx="4435500" cy="101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1" name="Google Shape;11;p2" title="blue-1.png"/>
          <p:cNvPicPr preferRelativeResize="0"/>
          <p:nvPr/>
        </p:nvPicPr>
        <p:blipFill rotWithShape="1">
          <a:blip r:embed="rId2">
            <a:alphaModFix/>
          </a:blip>
          <a:srcRect l="18389" t="37" r="45370" b="25658"/>
          <a:stretch/>
        </p:blipFill>
        <p:spPr>
          <a:xfrm>
            <a:off x="5340875" y="753625"/>
            <a:ext cx="3803126" cy="4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logo-elastic-horizontal-color-reverse.png"/>
          <p:cNvPicPr preferRelativeResize="0"/>
          <p:nvPr/>
        </p:nvPicPr>
        <p:blipFill rotWithShape="1">
          <a:blip r:embed="rId3">
            <a:alphaModFix/>
          </a:blip>
          <a:srcRect l="13807" t="24023" r="10499" b="24013"/>
          <a:stretch/>
        </p:blipFill>
        <p:spPr>
          <a:xfrm>
            <a:off x="689500" y="4164126"/>
            <a:ext cx="1507773" cy="5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- content">
  <p:cSld name="CUSTOM_1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57200" y="1869300"/>
            <a:ext cx="8520600" cy="26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2"/>
          </p:nvPr>
        </p:nvSpPr>
        <p:spPr>
          <a:xfrm>
            <a:off x="457200" y="1104325"/>
            <a:ext cx="77070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783675"/>
            <a:ext cx="43140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- left aligned">
  <p:cSld name="BLANK_4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925" y="3578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457925" y="766550"/>
            <a:ext cx="3013200" cy="134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- left aligned 1">
  <p:cSld name="BLANK_4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925" y="3578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1"/>
          </p:nvPr>
        </p:nvSpPr>
        <p:spPr>
          <a:xfrm>
            <a:off x="457925" y="766550"/>
            <a:ext cx="7224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57200" y="1221900"/>
            <a:ext cx="8382300" cy="269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- center">
  <p:cSld name="BLANK_4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1054350" y="3578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1054350" y="766550"/>
            <a:ext cx="7035300" cy="524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">
  <p:cSld name="BLANK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/>
          <p:nvPr/>
        </p:nvSpPr>
        <p:spPr>
          <a:xfrm>
            <a:off x="-11200" y="-11200"/>
            <a:ext cx="3137700" cy="51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66075" y="357175"/>
            <a:ext cx="24636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494575" y="1245550"/>
            <a:ext cx="2435100" cy="3068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4725875" y="618175"/>
            <a:ext cx="3059100" cy="601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4725875" y="1720050"/>
            <a:ext cx="3059100" cy="601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ubTitle" idx="4"/>
          </p:nvPr>
        </p:nvSpPr>
        <p:spPr>
          <a:xfrm>
            <a:off x="4725875" y="2821925"/>
            <a:ext cx="3059100" cy="601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4725875" y="3923800"/>
            <a:ext cx="3059100" cy="601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med text - photo background">
  <p:cSld name="CUSTOM_4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/>
          <p:nvPr/>
        </p:nvSpPr>
        <p:spPr>
          <a:xfrm>
            <a:off x="404125" y="554550"/>
            <a:ext cx="3905400" cy="4034400"/>
          </a:xfrm>
          <a:prstGeom prst="roundRect">
            <a:avLst>
              <a:gd name="adj" fmla="val 7317"/>
            </a:avLst>
          </a:prstGeom>
          <a:solidFill>
            <a:schemeClr val="lt1"/>
          </a:solidFill>
          <a:ln w="9525" cap="flat" cmpd="sng">
            <a:solidFill>
              <a:srgbClr val="101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693775" y="898050"/>
            <a:ext cx="33261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693775" y="1370850"/>
            <a:ext cx="3326100" cy="2997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466075" y="3578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E46962"/>
          </p15:clr>
        </p15:guide>
        <p15:guide id="2" pos="29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Modules">
  <p:cSld name="BLANK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457925" y="1905700"/>
            <a:ext cx="4341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457925" y="2314375"/>
            <a:ext cx="3013200" cy="134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E46962"/>
          </p15:clr>
        </p15:guide>
        <p15:guide id="2" pos="294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CUSTOM">
    <p:bg>
      <p:bgPr>
        <a:solidFill>
          <a:schemeClr val="accen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square">
  <p:cSld name="CUSTOM_8">
    <p:bg>
      <p:bgPr>
        <a:solidFill>
          <a:schemeClr val="accen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>
            <a:spLocks noGrp="1"/>
          </p:cNvSpPr>
          <p:nvPr>
            <p:ph type="pic" idx="2"/>
          </p:nvPr>
        </p:nvSpPr>
        <p:spPr>
          <a:xfrm>
            <a:off x="1020625" y="921750"/>
            <a:ext cx="3300000" cy="3300000"/>
          </a:xfrm>
          <a:prstGeom prst="roundRect">
            <a:avLst>
              <a:gd name="adj" fmla="val 8462"/>
            </a:avLst>
          </a:prstGeom>
          <a:noFill/>
          <a:ln w="19050" cap="flat" cmpd="sng">
            <a:solidFill>
              <a:srgbClr val="101C3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5077250" y="1631700"/>
            <a:ext cx="3300000" cy="96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 ExtraBold"/>
              <a:buNone/>
              <a:defRPr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077250" y="2517900"/>
            <a:ext cx="2973600" cy="99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CUSTOM_7">
    <p:bg>
      <p:bgPr>
        <a:solidFill>
          <a:schemeClr val="accent2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466075" y="2114000"/>
            <a:ext cx="1260900" cy="1260900"/>
          </a:xfrm>
          <a:prstGeom prst="roundRect">
            <a:avLst>
              <a:gd name="adj" fmla="val 8264"/>
            </a:avLst>
          </a:prstGeom>
          <a:noFill/>
          <a:ln w="19050" cap="flat" cmpd="sng">
            <a:solidFill>
              <a:srgbClr val="101C3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4" name="Google Shape;64;p14"/>
          <p:cNvSpPr>
            <a:spLocks noGrp="1"/>
          </p:cNvSpPr>
          <p:nvPr>
            <p:ph type="pic" idx="3"/>
          </p:nvPr>
        </p:nvSpPr>
        <p:spPr>
          <a:xfrm>
            <a:off x="2383475" y="2114000"/>
            <a:ext cx="1260900" cy="1260900"/>
          </a:xfrm>
          <a:prstGeom prst="roundRect">
            <a:avLst>
              <a:gd name="adj" fmla="val 8264"/>
            </a:avLst>
          </a:prstGeom>
          <a:noFill/>
          <a:ln w="19050" cap="flat" cmpd="sng">
            <a:solidFill>
              <a:srgbClr val="101C3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5" name="Google Shape;65;p14"/>
          <p:cNvSpPr>
            <a:spLocks noGrp="1"/>
          </p:cNvSpPr>
          <p:nvPr>
            <p:ph type="pic" idx="4"/>
          </p:nvPr>
        </p:nvSpPr>
        <p:spPr>
          <a:xfrm>
            <a:off x="4300875" y="2114000"/>
            <a:ext cx="1260900" cy="1260900"/>
          </a:xfrm>
          <a:prstGeom prst="roundRect">
            <a:avLst>
              <a:gd name="adj" fmla="val 8264"/>
            </a:avLst>
          </a:prstGeom>
          <a:noFill/>
          <a:ln w="19050" cap="flat" cmpd="sng">
            <a:solidFill>
              <a:srgbClr val="101C3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6" name="Google Shape;66;p14"/>
          <p:cNvSpPr>
            <a:spLocks noGrp="1"/>
          </p:cNvSpPr>
          <p:nvPr>
            <p:ph type="pic" idx="5"/>
          </p:nvPr>
        </p:nvSpPr>
        <p:spPr>
          <a:xfrm>
            <a:off x="6218275" y="2114000"/>
            <a:ext cx="1260900" cy="1260900"/>
          </a:xfrm>
          <a:prstGeom prst="roundRect">
            <a:avLst>
              <a:gd name="adj" fmla="val 8264"/>
            </a:avLst>
          </a:prstGeom>
          <a:noFill/>
          <a:ln w="19050" cap="flat" cmpd="sng">
            <a:solidFill>
              <a:srgbClr val="101C3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30700" y="3578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430700" y="745425"/>
            <a:ext cx="5657100" cy="348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6"/>
          </p:nvPr>
        </p:nvSpPr>
        <p:spPr>
          <a:xfrm>
            <a:off x="466075" y="3408200"/>
            <a:ext cx="1679100" cy="6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7"/>
          </p:nvPr>
        </p:nvSpPr>
        <p:spPr>
          <a:xfrm>
            <a:off x="2383475" y="3408200"/>
            <a:ext cx="1652100" cy="6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8"/>
          </p:nvPr>
        </p:nvSpPr>
        <p:spPr>
          <a:xfrm>
            <a:off x="4300875" y="3408200"/>
            <a:ext cx="1652100" cy="6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9"/>
          </p:nvPr>
        </p:nvSpPr>
        <p:spPr>
          <a:xfrm>
            <a:off x="6218275" y="3408200"/>
            <a:ext cx="1679100" cy="6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tout photo">
  <p:cSld name="CUSTOM_5">
    <p:bg>
      <p:bgPr>
        <a:solidFill>
          <a:schemeClr val="accen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57200" y="783675"/>
            <a:ext cx="41421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1"/>
          </p:nvPr>
        </p:nvSpPr>
        <p:spPr>
          <a:xfrm>
            <a:off x="466900" y="1129950"/>
            <a:ext cx="3660600" cy="2997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al">
  <p:cSld name="CUSTOM_2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eveloper blue">
  <p:cSld name="CUSTOM_1">
    <p:bg>
      <p:bgPr>
        <a:solidFill>
          <a:srgbClr val="101C3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CUSTOM_1_2">
    <p:bg>
      <p:bgPr>
        <a:solidFill>
          <a:srgbClr val="101C3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8275" y="4672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1"/>
          </p:nvPr>
        </p:nvSpPr>
        <p:spPr>
          <a:xfrm>
            <a:off x="458275" y="877175"/>
            <a:ext cx="7035300" cy="399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1_2_1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458275" y="467275"/>
            <a:ext cx="70353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1"/>
          </p:nvPr>
        </p:nvSpPr>
        <p:spPr>
          <a:xfrm>
            <a:off x="458275" y="877175"/>
            <a:ext cx="7035300" cy="399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page">
  <p:cSld name="CUSTOM_3">
    <p:bg>
      <p:bgPr>
        <a:solidFill>
          <a:schemeClr val="accen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logo-elastic-horizontal-color-revers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21000" y="3897400"/>
            <a:ext cx="2102025" cy="105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left title only">
  <p:cSld name="Blank White_1_1_1_1_1_1_1_2_1_1_2_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>
            <a:off x="685800" y="507132"/>
            <a:ext cx="7236900" cy="81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3" name="Google Shape;93;p21"/>
          <p:cNvPicPr preferRelativeResize="0"/>
          <p:nvPr/>
        </p:nvPicPr>
        <p:blipFill rotWithShape="1">
          <a:blip r:embed="rId2">
            <a:alphaModFix/>
          </a:blip>
          <a:srcRect t="30" b="30"/>
          <a:stretch/>
        </p:blipFill>
        <p:spPr>
          <a:xfrm>
            <a:off x="8183300" y="4690754"/>
            <a:ext cx="705625" cy="24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FA7B17"/>
          </p15:clr>
        </p15:guide>
        <p15:guide id="2" orient="horz" pos="522">
          <p15:clr>
            <a:srgbClr val="FA7B17"/>
          </p15:clr>
        </p15:guide>
        <p15:guide id="3" orient="horz" pos="95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slide - center aligned - two lines 1">
  <p:cSld name="Blank White_1_1_1_1_1_1_1_2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571500" y="473749"/>
            <a:ext cx="7853100" cy="81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Inter ExtraBold"/>
              <a:buNone/>
              <a:defRPr sz="2400"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1"/>
          </p:nvPr>
        </p:nvSpPr>
        <p:spPr>
          <a:xfrm>
            <a:off x="1402050" y="1284056"/>
            <a:ext cx="61920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97" name="Google Shape;97;p22"/>
          <p:cNvPicPr preferRelativeResize="0"/>
          <p:nvPr/>
        </p:nvPicPr>
        <p:blipFill rotWithShape="1">
          <a:blip r:embed="rId2">
            <a:alphaModFix/>
          </a:blip>
          <a:srcRect t="30" b="30"/>
          <a:stretch/>
        </p:blipFill>
        <p:spPr>
          <a:xfrm>
            <a:off x="8183300" y="4690754"/>
            <a:ext cx="705625" cy="24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FA7B17"/>
          </p15:clr>
        </p15:guide>
        <p15:guide id="2" orient="horz" pos="482">
          <p15:clr>
            <a:srgbClr val="FA7B17"/>
          </p15:clr>
        </p15:guide>
        <p15:guide id="3" orient="horz" pos="978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yellow">
  <p:cSld name="CUSTOM_2_1_1">
    <p:bg>
      <p:bgPr>
        <a:solidFill>
          <a:schemeClr val="accent5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ink">
  <p:cSld name="CUSTOM_2_1_2">
    <p:bg>
      <p:bgPr>
        <a:solidFill>
          <a:schemeClr val="accent3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-aligned photo">
  <p:cSld name="BLANK_4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5"/>
          <p:cNvSpPr txBox="1">
            <a:spLocks noGrp="1"/>
          </p:cNvSpPr>
          <p:nvPr>
            <p:ph type="title"/>
          </p:nvPr>
        </p:nvSpPr>
        <p:spPr>
          <a:xfrm>
            <a:off x="4192650" y="357875"/>
            <a:ext cx="4176600" cy="472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ubTitle" idx="1"/>
          </p:nvPr>
        </p:nvSpPr>
        <p:spPr>
          <a:xfrm>
            <a:off x="4192650" y="766550"/>
            <a:ext cx="3013200" cy="134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- teal B">
  <p:cSld name="CUSTOM_9_1_1">
    <p:bg>
      <p:bgPr>
        <a:solidFill>
          <a:schemeClr val="accen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 title="teal-1.png"/>
          <p:cNvPicPr preferRelativeResize="0"/>
          <p:nvPr/>
        </p:nvPicPr>
        <p:blipFill rotWithShape="1">
          <a:blip r:embed="rId2">
            <a:alphaModFix/>
          </a:blip>
          <a:srcRect l="16721" r="45371" b="25628"/>
          <a:stretch/>
        </p:blipFill>
        <p:spPr>
          <a:xfrm>
            <a:off x="5166100" y="753625"/>
            <a:ext cx="3977902" cy="4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975875" y="1664925"/>
            <a:ext cx="4365000" cy="1813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3400"/>
              <a:buFont typeface="Inter ExtraBold"/>
              <a:buNone/>
              <a:defRPr sz="34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- blue A">
  <p:cSld name="CUSTOM_9">
    <p:bg>
      <p:bgPr>
        <a:solidFill>
          <a:schemeClr val="accen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7" title="blue-1.png"/>
          <p:cNvPicPr preferRelativeResize="0"/>
          <p:nvPr/>
        </p:nvPicPr>
        <p:blipFill rotWithShape="1">
          <a:blip r:embed="rId2">
            <a:alphaModFix/>
          </a:blip>
          <a:srcRect l="18389" t="37" r="45370" b="25658"/>
          <a:stretch/>
        </p:blipFill>
        <p:spPr>
          <a:xfrm>
            <a:off x="5340875" y="753625"/>
            <a:ext cx="3803126" cy="4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975875" y="1664925"/>
            <a:ext cx="4365000" cy="1813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ExtraBold"/>
              <a:buNone/>
              <a:defRPr sz="3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- dev blue B">
  <p:cSld name="CUSTOM_9_2_1">
    <p:bg>
      <p:bgPr>
        <a:solidFill>
          <a:srgbClr val="101C3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>
            <a:off x="975875" y="1664925"/>
            <a:ext cx="4365000" cy="1813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ExtraBold"/>
              <a:buNone/>
              <a:defRPr sz="3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7" name="Google Shape;117;p28" title="devblue-1.png"/>
          <p:cNvPicPr preferRelativeResize="0"/>
          <p:nvPr/>
        </p:nvPicPr>
        <p:blipFill rotWithShape="1">
          <a:blip r:embed="rId3">
            <a:alphaModFix/>
          </a:blip>
          <a:srcRect t="37" r="45373" b="25658"/>
          <a:stretch/>
        </p:blipFill>
        <p:spPr>
          <a:xfrm>
            <a:off x="3411550" y="753625"/>
            <a:ext cx="5732449" cy="43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 layout">
  <p:cSld name="BLANK_4_4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9"/>
          <p:cNvSpPr txBox="1">
            <a:spLocks noGrp="1"/>
          </p:cNvSpPr>
          <p:nvPr>
            <p:ph type="title"/>
          </p:nvPr>
        </p:nvSpPr>
        <p:spPr>
          <a:xfrm>
            <a:off x="457925" y="2335350"/>
            <a:ext cx="2421000" cy="472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subTitle" idx="1"/>
          </p:nvPr>
        </p:nvSpPr>
        <p:spPr>
          <a:xfrm>
            <a:off x="3918450" y="1718675"/>
            <a:ext cx="2068800" cy="828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2"/>
          </p:nvPr>
        </p:nvSpPr>
        <p:spPr>
          <a:xfrm>
            <a:off x="6699150" y="1718675"/>
            <a:ext cx="2068800" cy="828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subTitle" idx="3"/>
          </p:nvPr>
        </p:nvSpPr>
        <p:spPr>
          <a:xfrm>
            <a:off x="3918450" y="3638650"/>
            <a:ext cx="2068800" cy="828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subTitle" idx="4"/>
          </p:nvPr>
        </p:nvSpPr>
        <p:spPr>
          <a:xfrm>
            <a:off x="6699150" y="3638650"/>
            <a:ext cx="2068800" cy="828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title" idx="5"/>
          </p:nvPr>
        </p:nvSpPr>
        <p:spPr>
          <a:xfrm>
            <a:off x="3918450" y="1374575"/>
            <a:ext cx="2006100" cy="490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6" name="Google Shape;126;p29"/>
          <p:cNvSpPr txBox="1">
            <a:spLocks noGrp="1"/>
          </p:cNvSpPr>
          <p:nvPr>
            <p:ph type="title" idx="6"/>
          </p:nvPr>
        </p:nvSpPr>
        <p:spPr>
          <a:xfrm>
            <a:off x="6699150" y="1374575"/>
            <a:ext cx="2006100" cy="490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title" idx="7"/>
          </p:nvPr>
        </p:nvSpPr>
        <p:spPr>
          <a:xfrm>
            <a:off x="3918450" y="3307088"/>
            <a:ext cx="2006100" cy="490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title" idx="8"/>
          </p:nvPr>
        </p:nvSpPr>
        <p:spPr>
          <a:xfrm>
            <a:off x="6699150" y="3307088"/>
            <a:ext cx="2006100" cy="490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  <a:defRPr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○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■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●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○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■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●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○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■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73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254000" y="38100"/>
            <a:ext cx="8636000" cy="3048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AI-Powered Document Intelligence for KYC Operations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254000" y="342900"/>
            <a:ext cx="8636000" cy="355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48EFCF"/>
                </a:solidFill>
              </a:rPr>
              <a:t>Using Jina AI to classify, read, and extract trusted information from scanned customer documents</a:t>
            </a:r>
          </a:p>
        </p:txBody>
      </p:sp>
      <p:sp>
        <p:nvSpPr>
          <p:cNvPr id="5" name="MessageBar"/>
          <p:cNvSpPr/>
          <p:nvPr/>
        </p:nvSpPr>
        <p:spPr>
          <a:xfrm>
            <a:off x="254000" y="838200"/>
            <a:ext cx="8636000" cy="5080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MainMessage"/>
          <p:cNvSpPr txBox="1"/>
          <p:nvPr/>
        </p:nvSpPr>
        <p:spPr>
          <a:xfrm>
            <a:off x="355600" y="863600"/>
            <a:ext cx="8432800" cy="4572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</a:rPr>
              <a:t>KYC teams can reduce manual review effort by using Jina AI models to automatically understand passports, invoices, receipts, and other scanned documents across languages and formats.</a:t>
            </a:r>
          </a:p>
        </p:txBody>
      </p:sp>
      <p:sp>
        <p:nvSpPr>
          <p:cNvPr id="7" name="UseCase"/>
          <p:cNvSpPr txBox="1"/>
          <p:nvPr/>
        </p:nvSpPr>
        <p:spPr>
          <a:xfrm>
            <a:off x="254000" y="1397000"/>
            <a:ext cx="8636000" cy="5334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</a:rPr>
              <a:t>During customer onboarding or periodic KYC refresh, banks receive identity documents, proof-of-address files, invoices, receipts, and supporting trade documents in different formats. Many are scanned PDFs or photos, making them difficult to process with traditional text-only automation.</a:t>
            </a:r>
          </a:p>
        </p:txBody>
      </p:sp>
      <p:sp>
        <p:nvSpPr>
          <p:cNvPr id="8" name="WorkflowLabel"/>
          <p:cNvSpPr txBox="1"/>
          <p:nvPr/>
        </p:nvSpPr>
        <p:spPr>
          <a:xfrm>
            <a:off x="254000" y="1955800"/>
            <a:ext cx="8636000" cy="203200"/>
          </a:xfrm>
          <a:prstGeom prst="rect">
            <a:avLst/>
          </a:prstGeom>
        </p:spPr>
        <p:txBody>
          <a:bodyPr wrap="square" rtlCol="0" anchor="ctr">
            <a:normAutofit fontScale="85000" lnSpcReduction="20000"/>
          </a:bodyPr>
          <a:lstStyle/>
          <a:p>
            <a:pPr algn="l"/>
            <a:r>
              <a:rPr lang="en-US" sz="1100" b="1" dirty="0">
                <a:solidFill>
                  <a:srgbClr val="153385"/>
                </a:solidFill>
              </a:rPr>
              <a:t>With Jina AI, the workflow becomes:</a:t>
            </a:r>
          </a:p>
        </p:txBody>
      </p:sp>
      <p:sp>
        <p:nvSpPr>
          <p:cNvPr id="9" name="Card1"/>
          <p:cNvSpPr/>
          <p:nvPr/>
        </p:nvSpPr>
        <p:spPr>
          <a:xfrm>
            <a:off x="254000" y="2209800"/>
            <a:ext cx="2794000" cy="27432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1Accent"/>
          <p:cNvSpPr/>
          <p:nvPr/>
        </p:nvSpPr>
        <p:spPr>
          <a:xfrm>
            <a:off x="254000" y="2209800"/>
            <a:ext cx="50800" cy="2743200"/>
          </a:xfrm>
          <a:prstGeom prst="rect">
            <a:avLst/>
          </a:prstGeom>
          <a:solidFill>
            <a:srgbClr val="48EFC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1Num"/>
          <p:cNvSpPr txBox="1"/>
          <p:nvPr/>
        </p:nvSpPr>
        <p:spPr>
          <a:xfrm>
            <a:off x="406400" y="2286000"/>
            <a:ext cx="2489200" cy="4064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53385"/>
                </a:solidFill>
              </a:rPr>
              <a:t>1. Classify the document</a:t>
            </a:r>
          </a:p>
        </p:txBody>
      </p:sp>
      <p:sp>
        <p:nvSpPr>
          <p:cNvPr id="12" name="Step1Body"/>
          <p:cNvSpPr txBox="1"/>
          <p:nvPr/>
        </p:nvSpPr>
        <p:spPr>
          <a:xfrm>
            <a:off x="406400" y="2717800"/>
            <a:ext cx="2489200" cy="2133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Jina multimodal embeddings identify whether the file is a passport, invoice, receipt, or another document type.</a:t>
            </a:r>
          </a:p>
        </p:txBody>
      </p:sp>
      <p:sp>
        <p:nvSpPr>
          <p:cNvPr id="13" name="Card2"/>
          <p:cNvSpPr/>
          <p:nvPr/>
        </p:nvSpPr>
        <p:spPr>
          <a:xfrm>
            <a:off x="3175000" y="2209800"/>
            <a:ext cx="2794000" cy="27432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2Accent"/>
          <p:cNvSpPr/>
          <p:nvPr/>
        </p:nvSpPr>
        <p:spPr>
          <a:xfrm>
            <a:off x="3175000" y="2209800"/>
            <a:ext cx="50800" cy="2743200"/>
          </a:xfrm>
          <a:prstGeom prst="rect">
            <a:avLst/>
          </a:prstGeom>
          <a:solidFill>
            <a:srgbClr val="48EFC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tep2Num"/>
          <p:cNvSpPr txBox="1"/>
          <p:nvPr/>
        </p:nvSpPr>
        <p:spPr>
          <a:xfrm>
            <a:off x="3327400" y="2286000"/>
            <a:ext cx="2489200" cy="406400"/>
          </a:xfrm>
          <a:prstGeom prst="rect">
            <a:avLst/>
          </a:prstGeom>
        </p:spPr>
        <p:txBody>
          <a:bodyPr wrap="square" rtlCol="0" anchor="t">
            <a:normAutofit lnSpcReduction="10000"/>
          </a:bodyPr>
          <a:lstStyle/>
          <a:p>
            <a:pPr algn="l"/>
            <a:r>
              <a:rPr lang="en-US" sz="1100" b="1" dirty="0">
                <a:solidFill>
                  <a:srgbClr val="153385"/>
                </a:solidFill>
              </a:rPr>
              <a:t>2. Apply the right extraction schema</a:t>
            </a:r>
          </a:p>
        </p:txBody>
      </p:sp>
      <p:sp>
        <p:nvSpPr>
          <p:cNvPr id="16" name="Step2Body"/>
          <p:cNvSpPr txBox="1"/>
          <p:nvPr/>
        </p:nvSpPr>
        <p:spPr>
          <a:xfrm>
            <a:off x="3327400" y="2717800"/>
            <a:ext cx="2489200" cy="2133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Once classified, Jina VLM reads the document image and extracts the fields required for that specific document type.</a:t>
            </a:r>
          </a:p>
        </p:txBody>
      </p:sp>
      <p:sp>
        <p:nvSpPr>
          <p:cNvPr id="17" name="Card3"/>
          <p:cNvSpPr/>
          <p:nvPr/>
        </p:nvSpPr>
        <p:spPr>
          <a:xfrm>
            <a:off x="6096000" y="2209800"/>
            <a:ext cx="2794000" cy="27432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3Accent"/>
          <p:cNvSpPr/>
          <p:nvPr/>
        </p:nvSpPr>
        <p:spPr>
          <a:xfrm>
            <a:off x="6096000" y="2209800"/>
            <a:ext cx="50800" cy="2743200"/>
          </a:xfrm>
          <a:prstGeom prst="rect">
            <a:avLst/>
          </a:prstGeom>
          <a:solidFill>
            <a:srgbClr val="48EFC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Step3Num"/>
          <p:cNvSpPr txBox="1"/>
          <p:nvPr/>
        </p:nvSpPr>
        <p:spPr>
          <a:xfrm>
            <a:off x="6248400" y="2286000"/>
            <a:ext cx="2489200" cy="406400"/>
          </a:xfrm>
          <a:prstGeom prst="rect">
            <a:avLst/>
          </a:prstGeom>
        </p:spPr>
        <p:txBody>
          <a:bodyPr wrap="square" rtlCol="0" anchor="t">
            <a:normAutofit lnSpcReduction="10000"/>
          </a:bodyPr>
          <a:lstStyle/>
          <a:p>
            <a:pPr algn="l"/>
            <a:r>
              <a:rPr lang="en-US" sz="1100" b="1" dirty="0">
                <a:solidFill>
                  <a:srgbClr val="153385"/>
                </a:solidFill>
              </a:rPr>
              <a:t>3. Return structured data for review</a:t>
            </a:r>
          </a:p>
        </p:txBody>
      </p:sp>
      <p:sp>
        <p:nvSpPr>
          <p:cNvPr id="20" name="Step3Body"/>
          <p:cNvSpPr txBox="1"/>
          <p:nvPr/>
        </p:nvSpPr>
        <p:spPr>
          <a:xfrm>
            <a:off x="6248400" y="2717800"/>
            <a:ext cx="2489200" cy="2133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KYC analysts receive extracted fields, OCR text, confidence signals, and document embeddings in a reviewable interface.</a:t>
            </a:r>
          </a:p>
        </p:txBody>
      </p:sp>
    </p:spTree>
    <p:extLst>
      <p:ext uri="{BB962C8B-B14F-4D97-AF65-F5344CB8AC3E}">
        <p14:creationId xmlns:p14="http://schemas.microsoft.com/office/powerpoint/2010/main" val="88036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254000" y="76200"/>
            <a:ext cx="8636000" cy="381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Who It Helps and the Value of Jina AI</a:t>
            </a:r>
          </a:p>
        </p:txBody>
      </p:sp>
      <p:sp>
        <p:nvSpPr>
          <p:cNvPr id="4" name="WhoLabel"/>
          <p:cNvSpPr txBox="1"/>
          <p:nvPr/>
        </p:nvSpPr>
        <p:spPr>
          <a:xfrm>
            <a:off x="254000" y="635000"/>
            <a:ext cx="8636000" cy="203200"/>
          </a:xfrm>
          <a:prstGeom prst="rect">
            <a:avLst/>
          </a:prstGeom>
        </p:spPr>
        <p:txBody>
          <a:bodyPr wrap="square" rtlCol="0" anchor="ctr">
            <a:normAutofit fontScale="77500" lnSpcReduction="20000"/>
          </a:bodyPr>
          <a:lstStyle/>
          <a:p>
            <a:pPr algn="l"/>
            <a:r>
              <a:rPr lang="en-US" sz="1200" b="1" dirty="0">
                <a:solidFill>
                  <a:srgbClr val="153385"/>
                </a:solidFill>
              </a:rPr>
              <a:t>Who It Helps</a:t>
            </a:r>
          </a:p>
        </p:txBody>
      </p:sp>
      <p:sp>
        <p:nvSpPr>
          <p:cNvPr id="5" name="Who1"/>
          <p:cNvSpPr/>
          <p:nvPr/>
        </p:nvSpPr>
        <p:spPr>
          <a:xfrm>
            <a:off x="254000" y="863600"/>
            <a:ext cx="2095500" cy="14986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Who1Title"/>
          <p:cNvSpPr txBox="1"/>
          <p:nvPr/>
        </p:nvSpPr>
        <p:spPr>
          <a:xfrm>
            <a:off x="355600" y="914400"/>
            <a:ext cx="1892300" cy="355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153385"/>
                </a:solidFill>
              </a:rPr>
              <a:t>KYC Operations Teams</a:t>
            </a:r>
          </a:p>
        </p:txBody>
      </p:sp>
      <p:sp>
        <p:nvSpPr>
          <p:cNvPr id="7" name="Who1Body"/>
          <p:cNvSpPr txBox="1"/>
          <p:nvPr/>
        </p:nvSpPr>
        <p:spPr>
          <a:xfrm>
            <a:off x="355600" y="1270000"/>
            <a:ext cx="1892300" cy="101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</a:rPr>
              <a:t>Reduce repetitive manual document review and speed up onboarding checks.</a:t>
            </a:r>
          </a:p>
        </p:txBody>
      </p:sp>
      <p:sp>
        <p:nvSpPr>
          <p:cNvPr id="8" name="Who2"/>
          <p:cNvSpPr/>
          <p:nvPr/>
        </p:nvSpPr>
        <p:spPr>
          <a:xfrm>
            <a:off x="2438400" y="863600"/>
            <a:ext cx="2095500" cy="14986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Who2Title"/>
          <p:cNvSpPr txBox="1"/>
          <p:nvPr/>
        </p:nvSpPr>
        <p:spPr>
          <a:xfrm>
            <a:off x="2540000" y="914400"/>
            <a:ext cx="1892300" cy="355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153385"/>
                </a:solidFill>
              </a:rPr>
              <a:t>Compliance Analysts</a:t>
            </a:r>
          </a:p>
        </p:txBody>
      </p:sp>
      <p:sp>
        <p:nvSpPr>
          <p:cNvPr id="10" name="Who2Body"/>
          <p:cNvSpPr txBox="1"/>
          <p:nvPr/>
        </p:nvSpPr>
        <p:spPr>
          <a:xfrm>
            <a:off x="2540000" y="1270000"/>
            <a:ext cx="1892300" cy="101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</a:rPr>
              <a:t>Get structured, reviewable information while keeping humans in the approval loop.</a:t>
            </a:r>
          </a:p>
        </p:txBody>
      </p:sp>
      <p:sp>
        <p:nvSpPr>
          <p:cNvPr id="11" name="Who3"/>
          <p:cNvSpPr/>
          <p:nvPr/>
        </p:nvSpPr>
        <p:spPr>
          <a:xfrm>
            <a:off x="4622800" y="863600"/>
            <a:ext cx="2095500" cy="14986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Who3Title"/>
          <p:cNvSpPr txBox="1"/>
          <p:nvPr/>
        </p:nvSpPr>
        <p:spPr>
          <a:xfrm>
            <a:off x="4724400" y="914400"/>
            <a:ext cx="1892300" cy="355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153385"/>
                </a:solidFill>
              </a:rPr>
              <a:t>Relationship Managers</a:t>
            </a:r>
          </a:p>
        </p:txBody>
      </p:sp>
      <p:sp>
        <p:nvSpPr>
          <p:cNvPr id="13" name="Who3Body"/>
          <p:cNvSpPr txBox="1"/>
          <p:nvPr/>
        </p:nvSpPr>
        <p:spPr>
          <a:xfrm>
            <a:off x="4724400" y="1270000"/>
            <a:ext cx="1892300" cy="101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</a:rPr>
              <a:t>Shorten customer onboarding delays caused by document backlogs.</a:t>
            </a:r>
          </a:p>
        </p:txBody>
      </p:sp>
      <p:sp>
        <p:nvSpPr>
          <p:cNvPr id="14" name="Who4"/>
          <p:cNvSpPr/>
          <p:nvPr/>
        </p:nvSpPr>
        <p:spPr>
          <a:xfrm>
            <a:off x="6807200" y="863600"/>
            <a:ext cx="2082800" cy="1498600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Who4Title"/>
          <p:cNvSpPr txBox="1"/>
          <p:nvPr/>
        </p:nvSpPr>
        <p:spPr>
          <a:xfrm>
            <a:off x="6908800" y="914400"/>
            <a:ext cx="1879600" cy="3556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153385"/>
                </a:solidFill>
              </a:rPr>
              <a:t>Technology Teams</a:t>
            </a:r>
          </a:p>
        </p:txBody>
      </p:sp>
      <p:sp>
        <p:nvSpPr>
          <p:cNvPr id="16" name="Who4Body"/>
          <p:cNvSpPr txBox="1"/>
          <p:nvPr/>
        </p:nvSpPr>
        <p:spPr>
          <a:xfrm>
            <a:off x="6908800" y="1270000"/>
            <a:ext cx="1879600" cy="101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</a:rPr>
              <a:t>Build a Jina-only AI document pipeline without needing separate OCR, classification, and extraction tools.</a:t>
            </a:r>
          </a:p>
        </p:txBody>
      </p:sp>
      <p:sp>
        <p:nvSpPr>
          <p:cNvPr id="17" name="ValueLabel"/>
          <p:cNvSpPr txBox="1"/>
          <p:nvPr/>
        </p:nvSpPr>
        <p:spPr>
          <a:xfrm>
            <a:off x="254000" y="2463800"/>
            <a:ext cx="8636000" cy="203200"/>
          </a:xfrm>
          <a:prstGeom prst="rect">
            <a:avLst/>
          </a:prstGeom>
        </p:spPr>
        <p:txBody>
          <a:bodyPr wrap="square" rtlCol="0" anchor="ctr">
            <a:normAutofit fontScale="77500" lnSpcReduction="20000"/>
          </a:bodyPr>
          <a:lstStyle/>
          <a:p>
            <a:pPr algn="l"/>
            <a:r>
              <a:rPr lang="en-US" sz="1200" b="1" dirty="0">
                <a:solidFill>
                  <a:srgbClr val="153385"/>
                </a:solidFill>
              </a:rPr>
              <a:t>Value of Jina AI</a:t>
            </a:r>
          </a:p>
        </p:txBody>
      </p:sp>
      <p:sp>
        <p:nvSpPr>
          <p:cNvPr id="18" name="ValueCard"/>
          <p:cNvSpPr/>
          <p:nvPr/>
        </p:nvSpPr>
        <p:spPr>
          <a:xfrm>
            <a:off x="254000" y="2692400"/>
            <a:ext cx="8636000" cy="1442719"/>
          </a:xfrm>
          <a:prstGeom prst="roundRect">
            <a:avLst/>
          </a:prstGeom>
          <a:solidFill>
            <a:srgbClr val="EFF1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ValueBody"/>
          <p:cNvSpPr txBox="1"/>
          <p:nvPr/>
        </p:nvSpPr>
        <p:spPr>
          <a:xfrm>
            <a:off x="406400" y="2768600"/>
            <a:ext cx="8331200" cy="14732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marL="171450" indent="-114300"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Handles image-based documents, scanned PDFs, and photos.</a:t>
            </a:r>
          </a:p>
          <a:p>
            <a:pPr marL="171450" indent="-114300"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Supports multilingual content, including English, Chinese, Bahasa Melayu, Bahasa Indonesia, and Hindi.</a:t>
            </a:r>
          </a:p>
          <a:p>
            <a:pPr marL="171450" indent="-114300"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Combines document classification, visual understanding, OCR-style reading, and embeddings.</a:t>
            </a:r>
          </a:p>
          <a:p>
            <a:pPr marL="171450" indent="-114300"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Enables schema-specific extraction for different KYC document types.</a:t>
            </a:r>
          </a:p>
          <a:p>
            <a:pPr marL="171450" indent="-114300"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Helps turn unstructured customer documents into structured, auditable data.</a:t>
            </a:r>
          </a:p>
        </p:txBody>
      </p:sp>
      <p:sp>
        <p:nvSpPr>
          <p:cNvPr id="20" name="CloseBar"/>
          <p:cNvSpPr/>
          <p:nvPr/>
        </p:nvSpPr>
        <p:spPr>
          <a:xfrm>
            <a:off x="254000" y="4236719"/>
            <a:ext cx="8636000" cy="5588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losing"/>
          <p:cNvSpPr txBox="1"/>
          <p:nvPr/>
        </p:nvSpPr>
        <p:spPr>
          <a:xfrm>
            <a:off x="355600" y="4262119"/>
            <a:ext cx="8432800" cy="508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Jina AI helps KYC teams move from manual document handling to intelligent, reviewable automation while preserving human oversight where it matters.</a:t>
            </a:r>
          </a:p>
        </p:txBody>
      </p:sp>
    </p:spTree>
    <p:extLst>
      <p:ext uri="{BB962C8B-B14F-4D97-AF65-F5344CB8AC3E}">
        <p14:creationId xmlns:p14="http://schemas.microsoft.com/office/powerpoint/2010/main" val="1923956028"/>
      </p:ext>
    </p:extLst>
  </p:cSld>
  <p:clrMapOvr>
    <a:masterClrMapping/>
  </p:clrMapOvr>
</p:sld>
</file>

<file path=ppt/theme/theme1.xml><?xml version="1.0" encoding="utf-8"?>
<a:theme xmlns:a="http://schemas.openxmlformats.org/drawingml/2006/main" name="Elastic Theme 2026">
  <a:themeElements>
    <a:clrScheme name="Simple Light">
      <a:dk1>
        <a:srgbClr val="000000"/>
      </a:dk1>
      <a:lt1>
        <a:srgbClr val="FFFFFF"/>
      </a:lt1>
      <a:dk2>
        <a:srgbClr val="ABB4C4"/>
      </a:dk2>
      <a:lt2>
        <a:srgbClr val="EFF1F4"/>
      </a:lt2>
      <a:accent1>
        <a:srgbClr val="48EFCF"/>
      </a:accent1>
      <a:accent2>
        <a:srgbClr val="0B64DD"/>
      </a:accent2>
      <a:accent3>
        <a:srgbClr val="F04E98"/>
      </a:accent3>
      <a:accent4>
        <a:srgbClr val="FF957D"/>
      </a:accent4>
      <a:accent5>
        <a:srgbClr val="FEC514"/>
      </a:accent5>
      <a:accent6>
        <a:srgbClr val="153385"/>
      </a:accent6>
      <a:hlink>
        <a:srgbClr val="0B64D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astic Theme 2026" id="{B29172EF-C4F7-6E42-A997-C6FE1BA12A41}" vid="{02E1DAAE-5BD5-3E4C-A081-E5E9F8C9FB4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9098C2-311E-6D41-9ADF-AA6AA1F2959D}">
  <we:reference id="WA200011214" version="1.0.0.1" store="Omex" storeType="OMEX"/>
  <we:alternateReferences>
    <we:reference id="WA200011214" version="1.0.0.1" store="WA200011214" storeType="OMEX"/>
  </we:alternateReferences>
  <we:properties>
    <we:property name="_postImportCommit" value="1789570876547"/>
    <we:property name="_flush" value="1789570876547"/>
    <we:property name="grokConversationBinding" value="{&quot;responseId&quot;:&quot;7a4a069f-6fbf-4ba2-a72f-57f1965d7a75&quot;,&quot;title&quot;:&quot;Jina AI for Efficient KYC Document Processing&quot;,&quot;transport&quot;:&quot;gateway&quot;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Elastic Theme 2026</Template>
  <TotalTime>4</TotalTime>
  <Words>343</Words>
  <Application>Microsoft Macintosh PowerPoint</Application>
  <PresentationFormat>On-screen Show (16:9)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Inter ExtraBold</vt:lpstr>
      <vt:lpstr>Calibri</vt:lpstr>
      <vt:lpstr>Inter</vt:lpstr>
      <vt:lpstr>Inter Black</vt:lpstr>
      <vt:lpstr>Elastic Theme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Toh</dc:creator>
  <cp:lastModifiedBy>Fabian Toh</cp:lastModifiedBy>
  <cp:revision>1</cp:revision>
  <dcterms:created xsi:type="dcterms:W3CDTF">2026-09-16T14:57:42Z</dcterms:created>
  <dcterms:modified xsi:type="dcterms:W3CDTF">2026-09-16T15:02:40Z</dcterms:modified>
</cp:coreProperties>
</file>